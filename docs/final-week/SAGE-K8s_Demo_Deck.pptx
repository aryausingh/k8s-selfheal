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We automate one failure class deeply, with a reversible two-action allowlist and measured safety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344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SAGE-K8s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7E5EF"/>
                </a:solidFill>
              </a:rPr>
              <a:t>Safe autonomous remediation for Kubernetes CrashLoopBackOff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" kern="0" dirty="0">
                <a:solidFill>
                  <a:srgbClr val="FFFFFF"/>
                </a:solidFill>
              </a:rPr>
              <a:t>detect  →  classify  →  validate  →  snapshot  →  act  →  verify  →  restore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6D8"/>
                </a:solidFill>
              </a:rPr>
              <a:t>Arya Singh  ·  Ananya  ·  Subhashini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823960" y="141732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3D2C1E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0" y="14813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8C28"/>
                </a:solidFill>
              </a:rPr>
              <a:t>2 reversible actions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823960" y="196596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123C4A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0" y="20299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7E8B"/>
                </a:solidFill>
              </a:rPr>
              <a:t>60s verified stability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823960" y="251460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193A34"/>
          </a:solidFill>
          <a:ln w="12700">
            <a:solidFill>
              <a:srgbClr val="B9D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0" y="25786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D6C8"/>
                </a:solidFill>
              </a:rPr>
              <a:t>automatic snapshot restore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19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Kubernetes restarts containers. It does not prove recovery.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12648" y="9601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CrashLoopBackOff is a symptom; safe remediation needs diagnosis, reversibility, and verification.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3337560" cy="3063240"/>
          </a:xfrm>
          <a:prstGeom prst="roundRect">
            <a:avLst>
              <a:gd name="adj" fmla="val 1493"/>
            </a:avLst>
          </a:prstGeom>
          <a:solidFill>
            <a:srgbClr val="F4F6F8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600200"/>
            <a:ext cx="73152" cy="3063240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What Kubernetes already does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212848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Restarts failed containers and applies exponential back-off.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1600200"/>
            <a:ext cx="3337560" cy="3063240"/>
          </a:xfrm>
          <a:prstGeom prst="roundRect">
            <a:avLst>
              <a:gd name="adj" fmla="val 1493"/>
            </a:avLst>
          </a:prstGeom>
          <a:solidFill>
            <a:srgbClr val="FFF0DF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600200"/>
            <a:ext cx="73152" cy="30632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What remains undecided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212848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Should we restart one Pod, undo a Deployment revision, or refuse automation?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3880" y="1600200"/>
            <a:ext cx="3337560" cy="3063240"/>
          </a:xfrm>
          <a:prstGeom prst="roundRect">
            <a:avLst>
              <a:gd name="adj" fmla="val 1493"/>
            </a:avLst>
          </a:prstGeom>
          <a:solidFill>
            <a:srgbClr val="DDF2F3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1600200"/>
            <a:ext cx="73152" cy="306324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What SAGE-K8s adds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212848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A validated two-action choice, an exact pre-action snapshot, a continuous health window, and automatic restore on failure.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926080" y="523036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API acceptance ≠ workload recovery</a:t>
            </a:r>
            <a:endParaRPr lang="en-US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GAP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19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gap is not proposing an action. It is executing safely.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12648" y="9601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An autonomous loop must know when its own intervention made things worse.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2240280" cy="34290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645920"/>
            <a:ext cx="73152" cy="3429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Recommend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258568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An LLM can suggest a repair, but a suggestion is not authority to mutate the cluster.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417320" y="4526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7E8B"/>
                </a:solidFill>
              </a:rPr>
              <a:t>1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3611880" y="1645920"/>
            <a:ext cx="2240280" cy="34290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11880" y="1645920"/>
            <a:ext cx="73152" cy="3429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Constrain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2258568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A deterministic validator enforces target semantics and the two-action allowlist.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97680" y="4526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7E8B"/>
                </a:solidFill>
              </a:rPr>
              <a:t>2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492240" y="1645920"/>
            <a:ext cx="2240280" cy="34290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1645920"/>
            <a:ext cx="73152" cy="3429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Reverse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2258568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Every action begins from a Deployment snapshot and can be undone by restoring it.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78040" y="4526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8C28"/>
                </a:solidFill>
              </a:rPr>
              <a:t>3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9372600" y="1645920"/>
            <a:ext cx="2240280" cy="34290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72600" y="1645920"/>
            <a:ext cx="73152" cy="3429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Measure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0" y="2258568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Enabled and disabled arms separate controller effect from Kubernetes self-recovery.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058400" y="4526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7E8B"/>
                </a:solidFill>
              </a:rPr>
              <a:t>4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19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guarded control loop, four evidence boundaries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12648" y="9601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The LLM proposes; deterministic and reversible components control execution.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9659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74520"/>
            <a:ext cx="73152" cy="132588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Pod controller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487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Detect + collect evidence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88920" y="1874520"/>
            <a:ext cx="19659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88920" y="1874520"/>
            <a:ext cx="73152" cy="132588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Classifier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17520" y="2487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Raw proposal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74920" y="1874520"/>
            <a:ext cx="19659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74920" y="1874520"/>
            <a:ext cx="73152" cy="13258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Validator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2487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Allowlist + semantic guard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60920" y="1874520"/>
            <a:ext cx="19659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60920" y="1874520"/>
            <a:ext cx="73152" cy="132588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Incident manager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89520" y="2487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Budget + backoff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646920" y="1874520"/>
            <a:ext cx="19659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46920" y="1874520"/>
            <a:ext cx="73152" cy="132588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Safety layer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75520" y="2487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Snapshot + verify + restore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468880" y="2624328"/>
            <a:ext cx="32004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754880" y="2624328"/>
            <a:ext cx="32004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40880" y="2624328"/>
            <a:ext cx="32004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326880" y="2624328"/>
            <a:ext cx="32004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325880" y="4251960"/>
            <a:ext cx="2743200" cy="1051560"/>
          </a:xfrm>
          <a:prstGeom prst="roundRect">
            <a:avLst>
              <a:gd name="adj" fmla="val 4348"/>
            </a:avLst>
          </a:prstGeom>
          <a:solidFill>
            <a:srgbClr val="F4F6F8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325880" y="4251960"/>
            <a:ext cx="73152" cy="1051560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54480" y="4434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K3s API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554480" y="4864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Pods · Deployments · ReplicaSets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36592" y="4251960"/>
            <a:ext cx="2743200" cy="1051560"/>
          </a:xfrm>
          <a:prstGeom prst="roundRect">
            <a:avLst>
              <a:gd name="adj" fmla="val 4348"/>
            </a:avLst>
          </a:prstGeom>
          <a:solidFill>
            <a:srgbClr val="FFF0DF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36592" y="4251960"/>
            <a:ext cx="73152" cy="10515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65192" y="4434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Durable audit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965192" y="4864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Exact 8-field JSONL on PVC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138160" y="4251960"/>
            <a:ext cx="2743200" cy="1051560"/>
          </a:xfrm>
          <a:prstGeom prst="roundRect">
            <a:avLst>
              <a:gd name="adj" fmla="val 4348"/>
            </a:avLst>
          </a:prstGeom>
          <a:solidFill>
            <a:srgbClr val="DDF2F3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38160" y="4251960"/>
            <a:ext cx="73152" cy="105156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66760" y="4434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Prometheus / Grafana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366760" y="4864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Operational view of the lifecycle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10607040" y="3200400"/>
            <a:ext cx="-7863840" cy="105156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607040" y="3200400"/>
            <a:ext cx="-4526280" cy="1051560"/>
          </a:xfrm>
          <a:prstGeom prst="line">
            <a:avLst/>
          </a:prstGeom>
          <a:noFill/>
          <a:ln w="19050">
            <a:solidFill>
              <a:srgbClr val="F28C28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732520" y="3200400"/>
            <a:ext cx="777240" cy="1051560"/>
          </a:xfrm>
          <a:prstGeom prst="line">
            <a:avLst/>
          </a:prstGeom>
          <a:noFill/>
          <a:ln w="19050">
            <a:solidFill>
              <a:srgbClr val="087E8B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LOOP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19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incident: decisions narrow before permissions expand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12648" y="9601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Unsafe and unsupported proposals terminate before a snapshot or action consumes budget.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965960"/>
            <a:ext cx="1170432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240">
            <a:solidFill>
              <a:srgbClr val="1024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221284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43E"/>
                </a:solidFill>
              </a:rPr>
              <a:t>DETECT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81912" y="2340864"/>
            <a:ext cx="24688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47088" y="1965960"/>
            <a:ext cx="1170432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240">
            <a:solidFill>
              <a:srgbClr val="102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221284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43E"/>
                </a:solidFill>
              </a:rPr>
              <a:t>EVIDENCE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17520" y="2340864"/>
            <a:ext cx="24688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82696" y="1965960"/>
            <a:ext cx="1170432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240">
            <a:solidFill>
              <a:srgbClr val="1024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221284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43E"/>
                </a:solidFill>
              </a:rPr>
              <a:t>CLASSIFY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53128" y="2340864"/>
            <a:ext cx="24688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18304" y="1965960"/>
            <a:ext cx="1170432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240">
            <a:solidFill>
              <a:srgbClr val="1024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221284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43E"/>
                </a:solidFill>
              </a:rPr>
              <a:t>VALIDATE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88736" y="2340864"/>
            <a:ext cx="24688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53912" y="1965960"/>
            <a:ext cx="1170432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7064" y="221284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8C28"/>
                </a:solidFill>
              </a:rPr>
              <a:t>SNAPSHOT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24344" y="2340864"/>
            <a:ext cx="24688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89520" y="1965960"/>
            <a:ext cx="1170432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221284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8C28"/>
                </a:solidFill>
              </a:rPr>
              <a:t>ACT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759952" y="2340864"/>
            <a:ext cx="24688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25128" y="1965960"/>
            <a:ext cx="1170432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240">
            <a:solidFill>
              <a:srgbClr val="087E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221284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E8B"/>
                </a:solidFill>
              </a:rPr>
              <a:t>VERIFY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195560" y="2340864"/>
            <a:ext cx="24688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460736" y="1965960"/>
            <a:ext cx="1170432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240">
            <a:solidFill>
              <a:srgbClr val="087E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33888" y="221284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E8B"/>
                </a:solidFill>
              </a:rPr>
              <a:t>RECOVER / RESTORE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29000" y="3794760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FCE8E8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29000" y="3794760"/>
            <a:ext cx="73152" cy="1325880"/>
          </a:xfrm>
          <a:prstGeom prst="rect">
            <a:avLst/>
          </a:prstGeom>
          <a:solidFill>
            <a:srgbClr val="B33A3A"/>
          </a:solidFill>
          <a:ln w="12700">
            <a:solidFill>
              <a:srgbClr val="B33A3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Safe stop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657600" y="44074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escalated / rejected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attemptNumber = 0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37960" y="3794760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E3F1EA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37960" y="3794760"/>
            <a:ext cx="73152" cy="132588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Verified success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66560" y="44074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same Pod UID Ready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for 60 uninterrupted seconds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281160" y="3794760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FFF0DF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281160" y="3794760"/>
            <a:ext cx="73152" cy="13258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0976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Failed verification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509760" y="44074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restore exact pre-action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Deployment spec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715000" y="2724912"/>
            <a:ext cx="-1143000" cy="1069848"/>
          </a:xfrm>
          <a:prstGeom prst="line">
            <a:avLst/>
          </a:prstGeom>
          <a:noFill/>
          <a:ln w="19050">
            <a:solidFill>
              <a:srgbClr val="B33A3A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149840" y="2724912"/>
            <a:ext cx="-2468880" cy="1069848"/>
          </a:xfrm>
          <a:prstGeom prst="line">
            <a:avLst/>
          </a:prstGeom>
          <a:noFill/>
          <a:ln w="19050">
            <a:solidFill>
              <a:srgbClr val="2E7D5B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515600" y="2724912"/>
            <a:ext cx="0" cy="1069848"/>
          </a:xfrm>
          <a:prstGeom prst="line">
            <a:avLst/>
          </a:prstGeom>
          <a:noFill/>
          <a:ln w="19050">
            <a:solidFill>
              <a:srgbClr val="F28C28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19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is a temporal contract, not a single readiness check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12648" y="9601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The verifier attributes one replacement and requires continuous health.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084832"/>
            <a:ext cx="10058400" cy="0"/>
          </a:xfrm>
          <a:prstGeom prst="line">
            <a:avLst/>
          </a:prstGeom>
          <a:noFill/>
          <a:ln w="38100">
            <a:solidFill>
              <a:srgbClr val="C8D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938528"/>
            <a:ext cx="292608" cy="292608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7E8B"/>
                </a:solidFill>
              </a:rPr>
              <a:t>Snapshot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" y="27706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Exact Deployment spec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25496" y="1938528"/>
            <a:ext cx="292608" cy="292608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7E8B"/>
                </a:solidFill>
              </a:rPr>
              <a:t>Capture UIDs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0280" y="27706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All pre-action Pods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82896" y="1938528"/>
            <a:ext cx="292608" cy="292608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7E8B"/>
                </a:solidFill>
              </a:rPr>
              <a:t>Dispatch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0" y="27706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Injected action callback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0296" y="1938528"/>
            <a:ext cx="292608" cy="292608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7E8B"/>
                </a:solidFill>
              </a:rPr>
              <a:t>≤30s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27706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First Ready observation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97696" y="1938528"/>
            <a:ext cx="292608" cy="292608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7E8B"/>
                </a:solidFill>
              </a:rPr>
              <a:t>+60s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27706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Same UID stays healthy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826496" y="1938528"/>
            <a:ext cx="292608" cy="2926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7844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Outcome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41280" y="27706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Recover or restore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14400" y="3794760"/>
            <a:ext cx="1014984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202A"/>
                </a:solidFill>
              </a:rPr>
              <a:t>Fail immediately if Ready flips false, the Pod disappears, UID changes, or named-container restartCount increases.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202A"/>
                </a:solidFill>
              </a:rPr>
              <a:t>Never switch candidates after the stability window starts.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202A"/>
                </a:solidFill>
              </a:rPr>
              <a:t>Snapshot restoration is the only rollback path; rollout_undo is an injected remediation action.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202A"/>
                </a:solidFill>
              </a:rPr>
              <a:t>Every transition is appended to durable JSONL with raw timestamps for later measurement.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19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workloads × two arms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12648" y="9601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The disabled arm asks the uncomfortable question: would Kubernetes have recovered anyway?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978408" cy="320040"/>
          </a:xfrm>
          <a:prstGeom prst="rect">
            <a:avLst/>
          </a:prstGeom>
          <a:solidFill>
            <a:srgbClr val="10243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91640" y="1572768"/>
            <a:ext cx="2852928" cy="320040"/>
          </a:xfrm>
          <a:prstGeom prst="rect">
            <a:avLst/>
          </a:prstGeom>
          <a:solidFill>
            <a:srgbClr val="10243E"/>
          </a:solidFill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Failure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17720" y="1572768"/>
            <a:ext cx="3447288" cy="320040"/>
          </a:xfrm>
          <a:prstGeom prst="rect">
            <a:avLst/>
          </a:prstGeom>
          <a:solidFill>
            <a:srgbClr val="10243E"/>
          </a:solidFill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Enabled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38160" y="1572768"/>
            <a:ext cx="3172968" cy="320040"/>
          </a:xfrm>
          <a:prstGeom prst="rect">
            <a:avLst/>
          </a:prstGeom>
          <a:solidFill>
            <a:srgbClr val="10243E"/>
          </a:solidFill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Disabled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978408" cy="7498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7E8B"/>
                </a:solidFill>
              </a:rPr>
              <a:t>W1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91640" y="1965960"/>
            <a:ext cx="2852928" cy="7498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2A"/>
                </a:solidFill>
              </a:rPr>
              <a:t>Transient self-recovery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17720" y="1965960"/>
            <a:ext cx="3447288" cy="7498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2A"/>
                </a:solidFill>
              </a:rPr>
              <a:t>Controller can make it slower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38160" y="1965960"/>
            <a:ext cx="3172968" cy="7498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2A"/>
                </a:solidFill>
              </a:rPr>
              <a:t>Unaided Kubernetes baseline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2990088"/>
            <a:ext cx="978408" cy="749808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7E8B"/>
                </a:solidFill>
              </a:rPr>
              <a:t>W2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91640" y="2990088"/>
            <a:ext cx="2852928" cy="749808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2A"/>
                </a:solidFill>
              </a:rPr>
              <a:t>Bad current revision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17720" y="2990088"/>
            <a:ext cx="3447288" cy="749808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2A"/>
                </a:solidFill>
              </a:rPr>
              <a:t>rollout_undo → verify recovery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38160" y="2990088"/>
            <a:ext cx="3172968" cy="749808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2A"/>
                </a:solidFill>
              </a:rPr>
              <a:t>Broken revision remains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014216"/>
            <a:ext cx="978408" cy="7498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7E8B"/>
                </a:solidFill>
              </a:rPr>
              <a:t>W3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91640" y="4014216"/>
            <a:ext cx="2852928" cy="7498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2A"/>
                </a:solidFill>
              </a:rPr>
              <a:t>Current + previous bad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17720" y="4014216"/>
            <a:ext cx="3447288" cy="7498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2A"/>
                </a:solidFill>
              </a:rPr>
              <a:t>verification fails → restore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38160" y="4014216"/>
            <a:ext cx="3172968" cy="7498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2A"/>
                </a:solidFill>
              </a:rPr>
              <a:t>No controller action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160520" y="553212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E3F1EA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55961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5B"/>
                </a:solidFill>
              </a:rPr>
              <a:t>enabled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67528" y="56144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controller active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0840" y="553212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4F6F8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55961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085"/>
                </a:solidFill>
              </a:rPr>
              <a:t>disabled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27848" y="561441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null-action control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19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are evidence-gated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12648" y="9601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This slide must be regenerated from archived runs; missing data is shown, never guessed.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5074920" cy="914400"/>
          </a:xfrm>
          <a:prstGeom prst="roundRect">
            <a:avLst>
              <a:gd name="adj" fmla="val 5000"/>
            </a:avLst>
          </a:prstGeom>
          <a:solidFill>
            <a:srgbClr val="FFF0DF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554480"/>
            <a:ext cx="73152" cy="9144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Rollback rate / attempts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167128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MISSING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074920" cy="914400"/>
          </a:xfrm>
          <a:prstGeom prst="roundRect">
            <a:avLst>
              <a:gd name="adj" fmla="val 5000"/>
            </a:avLst>
          </a:prstGeom>
          <a:solidFill>
            <a:srgbClr val="FFF0DF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554480"/>
            <a:ext cx="73152" cy="9144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Rollback rate / incidents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167128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MISSING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2788920"/>
            <a:ext cx="5074920" cy="914400"/>
          </a:xfrm>
          <a:prstGeom prst="roundRect">
            <a:avLst>
              <a:gd name="adj" fmla="val 5000"/>
            </a:avLst>
          </a:prstGeom>
          <a:solidFill>
            <a:srgbClr val="FFF0DF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788920"/>
            <a:ext cx="73152" cy="9144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971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Recovery by workload + arm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401568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MISSING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2788920"/>
            <a:ext cx="5074920" cy="914400"/>
          </a:xfrm>
          <a:prstGeom prst="roundRect">
            <a:avLst>
              <a:gd name="adj" fmla="val 5000"/>
            </a:avLst>
          </a:prstGeom>
          <a:solidFill>
            <a:srgbClr val="FFF0DF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2788920"/>
            <a:ext cx="73152" cy="9144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971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Attributable recovery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3401568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MISSING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1520" y="4023360"/>
            <a:ext cx="5074920" cy="914400"/>
          </a:xfrm>
          <a:prstGeom prst="roundRect">
            <a:avLst>
              <a:gd name="adj" fmla="val 5000"/>
            </a:avLst>
          </a:prstGeom>
          <a:solidFill>
            <a:srgbClr val="FFF0DF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4023360"/>
            <a:ext cx="73152" cy="9144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206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TTD / classify / apply / verify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4636008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MISSING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4023360"/>
            <a:ext cx="5074920" cy="914400"/>
          </a:xfrm>
          <a:prstGeom prst="roundRect">
            <a:avLst>
              <a:gd name="adj" fmla="val 5000"/>
            </a:avLst>
          </a:prstGeom>
          <a:solidFill>
            <a:srgbClr val="FFF0DF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63640" y="4023360"/>
            <a:ext cx="73152" cy="9144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206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Five terminal outcomes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2240" y="4636008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MISSING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05840" y="562356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3A3A"/>
                </a:solidFill>
              </a:rPr>
              <a:t>Gate: populate only when runs/ + meta.json exist and results.py reproduces the number.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19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Comparison without overclaiming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12648" y="9601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The final slide wording must cite the exact source passages for both comparator systems.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3337560" cy="3520440"/>
          </a:xfrm>
          <a:prstGeom prst="roundRect">
            <a:avLst>
              <a:gd name="adj" fmla="val 1370"/>
            </a:avLst>
          </a:prstGeom>
          <a:solidFill>
            <a:srgbClr val="F4F6F8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600200"/>
            <a:ext cx="73152" cy="3520440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Wiesinger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212848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Iterative remediation / retry behavior.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Do not say “no recovery mechanism.”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1600200"/>
            <a:ext cx="3337560" cy="3520440"/>
          </a:xfrm>
          <a:prstGeom prst="roundRect">
            <a:avLst>
              <a:gd name="adj" fmla="val 1370"/>
            </a:avLst>
          </a:prstGeom>
          <a:solidFill>
            <a:srgbClr val="FFF0DF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600200"/>
            <a:ext cx="73152" cy="35204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ARBITER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212848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Includes a safety monitor and approval-oriented experiments.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Do not claim priority or absence of rollback.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600200"/>
            <a:ext cx="3337560" cy="3520440"/>
          </a:xfrm>
          <a:prstGeom prst="roundRect">
            <a:avLst>
              <a:gd name="adj" fmla="val 1370"/>
            </a:avLst>
          </a:prstGeom>
          <a:solidFill>
            <a:srgbClr val="DDF2F3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600200"/>
            <a:ext cx="73152" cy="352044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SAGE-K8s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2212848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Ungated execution for one fault class, reversible two-action allowlist, disabled control arm, and direct rollback-rate measurement.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97280" y="56235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43E"/>
                </a:solidFill>
              </a:rPr>
              <a:t>Difference to defend: measured safety behavior under a narrow autonomous scope.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19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experiment does—and does not—establish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12648" y="9601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Naming limitations is part of the contribution, not an apology.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672084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</a:rPr>
              <a:t>A 60-second stability window creates a hard floor in time-to-mitigation.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</a:rPr>
              <a:t>The 30/60-second constants were chosen a priori and were not sensitivity-tested.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</a:rPr>
              <a:t>Small N and one K3s cluster limit external validity.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</a:rPr>
              <a:t>Two actions and one failure class prioritize reversibility over breadth.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</a:rPr>
              <a:t>PVC persistence survives controller Pod restarts, not node or disk loss.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</a:rPr>
              <a:t>Evidence freezing preserves attribution but can miss causes visible only after an action.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1600200"/>
            <a:ext cx="2926080" cy="3154680"/>
          </a:xfrm>
          <a:prstGeom prst="roundRect">
            <a:avLst>
              <a:gd name="adj" fmla="val 1563"/>
            </a:avLst>
          </a:prstGeom>
          <a:solidFill>
            <a:srgbClr val="DDF2F3"/>
          </a:solidFill>
          <a:ln w="12700">
            <a:solidFill>
              <a:srgbClr val="C8D0D9"/>
            </a:solidFill>
            <a:prstDash val="solid"/>
          </a:ln>
          <a:effectLst>
            <a:outerShdw sx="100000" sy="100000" kx="0" ky="0" algn="bl" rotWithShape="0" blurRad="12700" dist="50800" dir="2700000">
              <a:srgbClr val="9AA4B2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0" y="1600200"/>
            <a:ext cx="73152" cy="315468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58200" y="17830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Next, after submission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58200" y="2212848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Window-sensitivity study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Multi-cluster replication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Broader reversible actions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Larger run matrix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09560" y="5166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8C28"/>
                </a:solidFill>
              </a:rPr>
              <a:t>No new features this week. Prove, archive, explain.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SAGE-K8s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SAGE-K8s — Safe Autonomous Kubernetes Remediation</dc:title>
  <dc:subject>Final-week six-minute demo deck</dc:subject>
  <dc:creator>SAGE-K8s team</dc:creator>
  <cp:lastModifiedBy>SAGE-K8s team</cp:lastModifiedBy>
  <cp:revision>1</cp:revision>
  <dcterms:created xsi:type="dcterms:W3CDTF">2026-10-05T18:47:04Z</dcterms:created>
  <dcterms:modified xsi:type="dcterms:W3CDTF">2026-10-05T18:47:04Z</dcterms:modified>
</cp:coreProperties>
</file>